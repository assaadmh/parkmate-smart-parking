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IBM Plex Sans" charset="1" panose="020B0503050203000203"/>
      <p:regular r:id="rId10"/>
    </p:embeddedFont>
    <p:embeddedFont>
      <p:font typeface="IBM Plex Sans Bold" charset="1" panose="020B0803050203000203"/>
      <p:regular r:id="rId11"/>
    </p:embeddedFont>
    <p:embeddedFont>
      <p:font typeface="IBM Plex Sans Italics" charset="1" panose="020B0503050203000203"/>
      <p:regular r:id="rId12"/>
    </p:embeddedFont>
    <p:embeddedFont>
      <p:font typeface="IBM Plex Sans Bold Italics" charset="1" panose="020B0803050203000203"/>
      <p:regular r:id="rId13"/>
    </p:embeddedFont>
    <p:embeddedFont>
      <p:font typeface="IBM Plex Sans Thin" charset="1" panose="020B0203050203000203"/>
      <p:regular r:id="rId14"/>
    </p:embeddedFont>
    <p:embeddedFont>
      <p:font typeface="IBM Plex Sans Thin Italics" charset="1" panose="020B0203050203000203"/>
      <p:regular r:id="rId15"/>
    </p:embeddedFont>
    <p:embeddedFont>
      <p:font typeface="IBM Plex Sans Medium" charset="1" panose="020B0603050203000203"/>
      <p:regular r:id="rId16"/>
    </p:embeddedFont>
    <p:embeddedFont>
      <p:font typeface="IBM Plex Sans Medium Italics" charset="1" panose="020B06030502030002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slides/slide1.xml" Type="http://schemas.openxmlformats.org/officeDocument/2006/relationships/slide"/><Relationship Id="rId19" Target="slides/slide2.xml" Type="http://schemas.openxmlformats.org/officeDocument/2006/relationships/slide"/><Relationship Id="rId2" Target="presProps.xml" Type="http://schemas.openxmlformats.org/officeDocument/2006/relationships/presProps"/><Relationship Id="rId20" Target="slides/slide3.xml" Type="http://schemas.openxmlformats.org/officeDocument/2006/relationships/slide"/><Relationship Id="rId21" Target="slides/slide4.xml" Type="http://schemas.openxmlformats.org/officeDocument/2006/relationships/slide"/><Relationship Id="rId22" Target="slides/slide5.xml" Type="http://schemas.openxmlformats.org/officeDocument/2006/relationships/slide"/><Relationship Id="rId23" Target="slides/slide6.xml" Type="http://schemas.openxmlformats.org/officeDocument/2006/relationships/slide"/><Relationship Id="rId24" Target="slides/slide7.xml" Type="http://schemas.openxmlformats.org/officeDocument/2006/relationships/slide"/><Relationship Id="rId25" Target="slides/slide8.xml" Type="http://schemas.openxmlformats.org/officeDocument/2006/relationships/slide"/><Relationship Id="rId26" Target="slides/slide9.xml" Type="http://schemas.openxmlformats.org/officeDocument/2006/relationships/slide"/><Relationship Id="rId27" Target="slides/slide10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4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2230017">
            <a:off x="6019800" y="5462018"/>
            <a:ext cx="16230600" cy="822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-3000123">
            <a:off x="14532884" y="-4492802"/>
            <a:ext cx="7510232" cy="8229600"/>
          </a:xfrm>
          <a:prstGeom prst="rect">
            <a:avLst/>
          </a:prstGeom>
          <a:solidFill>
            <a:srgbClr val="E1EBFF"/>
          </a:solidFill>
        </p:spPr>
      </p:sp>
      <p:sp>
        <p:nvSpPr>
          <p:cNvPr name="AutoShape 4" id="4"/>
          <p:cNvSpPr/>
          <p:nvPr/>
        </p:nvSpPr>
        <p:spPr>
          <a:xfrm rot="-3000123">
            <a:off x="-2021520" y="5630280"/>
            <a:ext cx="7510232" cy="11263526"/>
          </a:xfrm>
          <a:prstGeom prst="rect">
            <a:avLst/>
          </a:prstGeom>
          <a:solidFill>
            <a:srgbClr val="0453F1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1028700" y="1684500"/>
            <a:ext cx="10923602" cy="3743119"/>
            <a:chOff x="0" y="0"/>
            <a:chExt cx="14564803" cy="499082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4564803" cy="2316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13986"/>
                </a:lnSpc>
              </a:pPr>
              <a:r>
                <a:rPr lang="en-US" sz="11100">
                  <a:solidFill>
                    <a:srgbClr val="FFFFFF"/>
                  </a:solidFill>
                  <a:latin typeface="IBM Plex Sans"/>
                </a:rPr>
                <a:t>P﻿arkMate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483845"/>
              <a:ext cx="14564803" cy="2506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040"/>
                </a:lnSpc>
              </a:pPr>
              <a:r>
                <a:rPr lang="en-US" sz="3600" spc="-36">
                  <a:solidFill>
                    <a:srgbClr val="FFFFFF"/>
                  </a:solidFill>
                  <a:latin typeface="IBM Plex Sans"/>
                </a:rPr>
                <a:t>Mahmoudi Lassaad</a:t>
              </a:r>
              <a:r>
                <a:rPr lang="en-US" sz="3600" spc="-36">
                  <a:solidFill>
                    <a:srgbClr val="FFFFFF"/>
                  </a:solidFill>
                  <a:latin typeface="IBM Plex Sans"/>
                </a:rPr>
                <a:t> </a:t>
              </a:r>
            </a:p>
            <a:p>
              <a:pPr>
                <a:lnSpc>
                  <a:spcPts val="5040"/>
                </a:lnSpc>
              </a:pPr>
              <a:r>
                <a:rPr lang="en-US" sz="3600" spc="-36">
                  <a:solidFill>
                    <a:srgbClr val="FFFFFF"/>
                  </a:solidFill>
                  <a:latin typeface="IBM Plex Sans"/>
                </a:rPr>
                <a:t>IPEIG</a:t>
              </a:r>
            </a:p>
            <a:p>
              <a:pPr>
                <a:lnSpc>
                  <a:spcPts val="50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45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863961">
            <a:off x="-6496050" y="6172200"/>
            <a:ext cx="16230600" cy="8229600"/>
          </a:xfrm>
          <a:prstGeom prst="rect">
            <a:avLst/>
          </a:prstGeom>
          <a:solidFill>
            <a:srgbClr val="E1EBFF"/>
          </a:solidFill>
        </p:spPr>
      </p:sp>
      <p:sp>
        <p:nvSpPr>
          <p:cNvPr name="AutoShape 3" id="3"/>
          <p:cNvSpPr/>
          <p:nvPr/>
        </p:nvSpPr>
        <p:spPr>
          <a:xfrm rot="-2230017">
            <a:off x="-5657850" y="-4546217"/>
            <a:ext cx="16230600" cy="8229600"/>
          </a:xfrm>
          <a:prstGeom prst="rect">
            <a:avLst/>
          </a:prstGeom>
          <a:solidFill>
            <a:srgbClr val="004A98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028700" y="740825"/>
            <a:ext cx="4065725" cy="2256187"/>
            <a:chOff x="0" y="0"/>
            <a:chExt cx="3472874" cy="19349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2874" cy="1934945"/>
            </a:xfrm>
            <a:custGeom>
              <a:avLst/>
              <a:gdLst/>
              <a:ahLst/>
              <a:cxnLst/>
              <a:rect r="r" b="b" t="t" l="l"/>
              <a:pathLst>
                <a:path h="1934945" w="3472874">
                  <a:moveTo>
                    <a:pt x="3348414" y="1934945"/>
                  </a:moveTo>
                  <a:lnTo>
                    <a:pt x="124460" y="1934945"/>
                  </a:lnTo>
                  <a:cubicBezTo>
                    <a:pt x="55880" y="1934945"/>
                    <a:pt x="0" y="1879065"/>
                    <a:pt x="0" y="181048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48414" y="0"/>
                  </a:lnTo>
                  <a:cubicBezTo>
                    <a:pt x="3416994" y="0"/>
                    <a:pt x="3472874" y="55880"/>
                    <a:pt x="3472874" y="124460"/>
                  </a:cubicBezTo>
                  <a:lnTo>
                    <a:pt x="3472874" y="1810485"/>
                  </a:lnTo>
                  <a:cubicBezTo>
                    <a:pt x="3472874" y="1879065"/>
                    <a:pt x="3416994" y="1934945"/>
                    <a:pt x="3348414" y="19349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23075" y="3318527"/>
            <a:ext cx="5299542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09"/>
              </a:lnSpc>
              <a:spcBef>
                <a:spcPct val="0"/>
              </a:spcBef>
            </a:pPr>
            <a:r>
              <a:rPr lang="en-US" sz="6174">
                <a:solidFill>
                  <a:srgbClr val="FFFFFF"/>
                </a:solidFill>
                <a:latin typeface="IBM Plex Sans"/>
              </a:rPr>
              <a:t>THE IMPORTENT POINTS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29694" y="2834961"/>
            <a:ext cx="4230159" cy="4554052"/>
            <a:chOff x="0" y="0"/>
            <a:chExt cx="5640212" cy="607207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2545"/>
              <a:ext cx="5640212" cy="1320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 u="sng">
                  <a:solidFill>
                    <a:srgbClr val="FFFFFF"/>
                  </a:solidFill>
                  <a:latin typeface="IBM Plex Sans Semi-Bold"/>
                </a:rPr>
                <a:t>Automated Parking Management: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011112"/>
              <a:ext cx="5640212" cy="1320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 u="sng">
                  <a:solidFill>
                    <a:srgbClr val="FFFFFF"/>
                  </a:solidFill>
                  <a:latin typeface="IBM Plex Sans Semi-Bold"/>
                </a:rPr>
                <a:t>Real-time Space Tracking: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064768"/>
              <a:ext cx="5640212" cy="634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>
                  <a:solidFill>
                    <a:srgbClr val="FFFFFF"/>
                  </a:solidFill>
                  <a:latin typeface="IBM Plex Sans Semi-Bold"/>
                </a:rPr>
                <a:t>Secure RFID Access: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432625"/>
              <a:ext cx="5640212" cy="634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>
                  <a:solidFill>
                    <a:srgbClr val="FFFFFF"/>
                  </a:solidFill>
                  <a:latin typeface="IBM Plex Sans Semi-Bold"/>
                </a:rPr>
                <a:t>User-Friendly Display: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706140" y="0"/>
            <a:ext cx="27106320" cy="10287000"/>
            <a:chOff x="0" y="0"/>
            <a:chExt cx="5399224" cy="2049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9224" cy="2049036"/>
            </a:xfrm>
            <a:custGeom>
              <a:avLst/>
              <a:gdLst/>
              <a:ahLst/>
              <a:cxnLst/>
              <a:rect r="r" b="b" t="t" l="l"/>
              <a:pathLst>
                <a:path h="2049036" w="5399224">
                  <a:moveTo>
                    <a:pt x="1138182" y="2049036"/>
                  </a:moveTo>
                  <a:lnTo>
                    <a:pt x="0" y="2049036"/>
                  </a:lnTo>
                  <a:lnTo>
                    <a:pt x="2049036" y="0"/>
                  </a:lnTo>
                  <a:lnTo>
                    <a:pt x="3187218" y="0"/>
                  </a:lnTo>
                  <a:lnTo>
                    <a:pt x="1138182" y="2049036"/>
                  </a:lnTo>
                  <a:close/>
                  <a:moveTo>
                    <a:pt x="5399224" y="0"/>
                  </a:moveTo>
                  <a:lnTo>
                    <a:pt x="4261042" y="0"/>
                  </a:lnTo>
                  <a:lnTo>
                    <a:pt x="2212007" y="2049036"/>
                  </a:lnTo>
                  <a:lnTo>
                    <a:pt x="3350189" y="2049036"/>
                  </a:lnTo>
                  <a:lnTo>
                    <a:pt x="53992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99224" cy="2049036"/>
            </a:xfrm>
            <a:custGeom>
              <a:avLst/>
              <a:gdLst/>
              <a:ahLst/>
              <a:cxnLst/>
              <a:rect r="r" b="b" t="t" l="l"/>
              <a:pathLst>
                <a:path h="2049036" w="5399224">
                  <a:moveTo>
                    <a:pt x="1138182" y="2049036"/>
                  </a:moveTo>
                  <a:lnTo>
                    <a:pt x="0" y="2049036"/>
                  </a:lnTo>
                  <a:lnTo>
                    <a:pt x="2049036" y="0"/>
                  </a:lnTo>
                  <a:lnTo>
                    <a:pt x="3187218" y="0"/>
                  </a:lnTo>
                  <a:lnTo>
                    <a:pt x="1138182" y="2049036"/>
                  </a:lnTo>
                  <a:close/>
                  <a:moveTo>
                    <a:pt x="5399224" y="0"/>
                  </a:moveTo>
                  <a:lnTo>
                    <a:pt x="4261042" y="0"/>
                  </a:lnTo>
                  <a:lnTo>
                    <a:pt x="2212007" y="2049036"/>
                  </a:lnTo>
                  <a:lnTo>
                    <a:pt x="3350189" y="2049036"/>
                  </a:lnTo>
                  <a:lnTo>
                    <a:pt x="5399224" y="0"/>
                  </a:lnTo>
                  <a:close/>
                </a:path>
              </a:pathLst>
            </a:custGeom>
            <a:blipFill>
              <a:blip r:embed="rId2"/>
              <a:stretch>
                <a:fillRect l="0" t="-38190" r="0" b="-3819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2104965" y="0"/>
            <a:ext cx="6183035" cy="6173142"/>
            <a:chOff x="0" y="0"/>
            <a:chExt cx="6350000" cy="6339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AutoShape 7" id="7"/>
          <p:cNvSpPr/>
          <p:nvPr/>
        </p:nvSpPr>
        <p:spPr>
          <a:xfrm rot="-3344541">
            <a:off x="12985119" y="-6591092"/>
            <a:ext cx="8854294" cy="12711127"/>
          </a:xfrm>
          <a:prstGeom prst="rect">
            <a:avLst/>
          </a:prstGeom>
          <a:solidFill>
            <a:srgbClr val="0453F1"/>
          </a:solidFill>
        </p:spPr>
      </p:sp>
      <p:sp>
        <p:nvSpPr>
          <p:cNvPr name="Freeform 8" id="8"/>
          <p:cNvSpPr/>
          <p:nvPr/>
        </p:nvSpPr>
        <p:spPr>
          <a:xfrm flipH="false" flipV="false" rot="0">
            <a:off x="9667191" y="5385077"/>
            <a:ext cx="6469888" cy="4492242"/>
          </a:xfrm>
          <a:custGeom>
            <a:avLst/>
            <a:gdLst/>
            <a:ahLst/>
            <a:cxnLst/>
            <a:rect r="r" b="b" t="t" l="l"/>
            <a:pathLst>
              <a:path h="4492242" w="6469888">
                <a:moveTo>
                  <a:pt x="0" y="0"/>
                </a:moveTo>
                <a:lnTo>
                  <a:pt x="6469889" y="0"/>
                </a:lnTo>
                <a:lnTo>
                  <a:pt x="6469889" y="4492242"/>
                </a:lnTo>
                <a:lnTo>
                  <a:pt x="0" y="4492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33" t="-28868" r="-140575" b="-7820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67191" y="253642"/>
            <a:ext cx="6469888" cy="4285917"/>
          </a:xfrm>
          <a:custGeom>
            <a:avLst/>
            <a:gdLst/>
            <a:ahLst/>
            <a:cxnLst/>
            <a:rect r="r" b="b" t="t" l="l"/>
            <a:pathLst>
              <a:path h="4285917" w="6469888">
                <a:moveTo>
                  <a:pt x="0" y="0"/>
                </a:moveTo>
                <a:lnTo>
                  <a:pt x="6469889" y="0"/>
                </a:lnTo>
                <a:lnTo>
                  <a:pt x="6469889" y="4285917"/>
                </a:lnTo>
                <a:lnTo>
                  <a:pt x="0" y="4285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658" t="-31093" r="-106748" b="-62005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05509" y="1028700"/>
            <a:ext cx="8638491" cy="5875302"/>
            <a:chOff x="0" y="0"/>
            <a:chExt cx="11517989" cy="783373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11517989" cy="2565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19"/>
                </a:lnSpc>
                <a:spcBef>
                  <a:spcPct val="0"/>
                </a:spcBef>
              </a:pPr>
              <a:r>
                <a:rPr lang="en-US" sz="6349" u="sng">
                  <a:solidFill>
                    <a:srgbClr val="0453F1"/>
                  </a:solidFill>
                  <a:latin typeface="IBM Plex Sans Semi-Bold"/>
                </a:rPr>
                <a:t>Automated Parking Management: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597088"/>
              <a:ext cx="11517989" cy="4198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058"/>
                </a:lnSpc>
              </a:pPr>
              <a:r>
                <a:rPr lang="en-US" sz="3613">
                  <a:solidFill>
                    <a:srgbClr val="004A98"/>
                  </a:solidFill>
                  <a:latin typeface="IBM Plex Sans"/>
                </a:rPr>
                <a:t>Our innovative parking system takes the hassle out of parking by automating the entire process. Drivers and parking operators can enjoy a streamlined experience.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3710222">
            <a:off x="370407" y="2275575"/>
            <a:ext cx="5405663" cy="16125027"/>
          </a:xfrm>
          <a:prstGeom prst="rect">
            <a:avLst/>
          </a:prstGeom>
          <a:solidFill>
            <a:srgbClr val="0453F1"/>
          </a:solidFill>
        </p:spPr>
      </p:sp>
      <p:sp>
        <p:nvSpPr>
          <p:cNvPr name="AutoShape 3" id="3"/>
          <p:cNvSpPr/>
          <p:nvPr/>
        </p:nvSpPr>
        <p:spPr>
          <a:xfrm rot="-3408248">
            <a:off x="14168982" y="6593432"/>
            <a:ext cx="8238035" cy="4434386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1456905" y="2844221"/>
            <a:ext cx="4226790" cy="4226790"/>
          </a:xfrm>
          <a:custGeom>
            <a:avLst/>
            <a:gdLst/>
            <a:ahLst/>
            <a:cxnLst/>
            <a:rect r="r" b="b" t="t" l="l"/>
            <a:pathLst>
              <a:path h="4226790" w="4226790">
                <a:moveTo>
                  <a:pt x="0" y="0"/>
                </a:moveTo>
                <a:lnTo>
                  <a:pt x="4226790" y="0"/>
                </a:lnTo>
                <a:lnTo>
                  <a:pt x="4226790" y="4226790"/>
                </a:lnTo>
                <a:lnTo>
                  <a:pt x="0" y="422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38225"/>
            <a:ext cx="9257283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559"/>
              </a:lnSpc>
              <a:spcBef>
                <a:spcPct val="0"/>
              </a:spcBef>
            </a:pPr>
            <a:r>
              <a:rPr lang="en-US" sz="8799" u="sng">
                <a:solidFill>
                  <a:srgbClr val="FFFFFF"/>
                </a:solidFill>
                <a:latin typeface="IBM Plex Sans Semi-Bold"/>
              </a:rPr>
              <a:t>Real-time Space Tracking: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02271"/>
            <a:ext cx="8769389" cy="184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748"/>
              </a:lnSpc>
            </a:pPr>
            <a:r>
              <a:rPr lang="en-US" sz="2677">
                <a:solidFill>
                  <a:srgbClr val="FFFFFF"/>
                </a:solidFill>
                <a:latin typeface="IBM Plex Sans"/>
              </a:rPr>
              <a:t>Thanks to advanced IR sensors, we provide real-time tracking of parking space occupancy. No more circling the lot in search of an available spot – our system makes it easy.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5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2230017">
            <a:off x="10684067" y="5418866"/>
            <a:ext cx="16230600" cy="8229600"/>
          </a:xfrm>
          <a:prstGeom prst="rect">
            <a:avLst/>
          </a:prstGeom>
          <a:solidFill>
            <a:srgbClr val="004A98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204115" y="2864952"/>
            <a:ext cx="7633135" cy="4557095"/>
          </a:xfrm>
          <a:custGeom>
            <a:avLst/>
            <a:gdLst/>
            <a:ahLst/>
            <a:cxnLst/>
            <a:rect r="r" b="b" t="t" l="l"/>
            <a:pathLst>
              <a:path h="4557095" w="7633135">
                <a:moveTo>
                  <a:pt x="0" y="0"/>
                </a:moveTo>
                <a:lnTo>
                  <a:pt x="7633135" y="0"/>
                </a:lnTo>
                <a:lnTo>
                  <a:pt x="7633135" y="4557096"/>
                </a:lnTo>
                <a:lnTo>
                  <a:pt x="0" y="4557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2224" y="4230053"/>
            <a:ext cx="8817846" cy="253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IBM Plex Sans"/>
              </a:rPr>
              <a:t>We've prioritized security with RFID cards. Only authorized users can access the parking area, ensuring a safe and controlled environment.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0844" y="1038225"/>
            <a:ext cx="162306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559"/>
              </a:lnSpc>
            </a:pPr>
            <a:r>
              <a:rPr lang="en-US" sz="8799">
                <a:solidFill>
                  <a:srgbClr val="FFFFFF"/>
                </a:solidFill>
                <a:latin typeface="IBM Plex Sans Semi-Bold"/>
              </a:rPr>
              <a:t>Secure RFID Access: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3344541">
            <a:off x="13461369" y="-8800892"/>
            <a:ext cx="8854294" cy="12711127"/>
          </a:xfrm>
          <a:prstGeom prst="rect">
            <a:avLst/>
          </a:prstGeom>
          <a:solidFill>
            <a:srgbClr val="0453F1"/>
          </a:solidFill>
        </p:spPr>
      </p:sp>
      <p:sp>
        <p:nvSpPr>
          <p:cNvPr name="AutoShape 3" id="3"/>
          <p:cNvSpPr/>
          <p:nvPr/>
        </p:nvSpPr>
        <p:spPr>
          <a:xfrm rot="-3387270">
            <a:off x="12755783" y="3366163"/>
            <a:ext cx="13807161" cy="6890911"/>
          </a:xfrm>
          <a:prstGeom prst="rect">
            <a:avLst/>
          </a:prstGeom>
          <a:solidFill>
            <a:srgbClr val="E1EBFF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9390535" y="609765"/>
            <a:ext cx="4533735" cy="4533735"/>
          </a:xfrm>
          <a:custGeom>
            <a:avLst/>
            <a:gdLst/>
            <a:ahLst/>
            <a:cxnLst/>
            <a:rect r="r" b="b" t="t" l="l"/>
            <a:pathLst>
              <a:path h="4533735" w="4533735">
                <a:moveTo>
                  <a:pt x="0" y="0"/>
                </a:moveTo>
                <a:lnTo>
                  <a:pt x="4533735" y="0"/>
                </a:lnTo>
                <a:lnTo>
                  <a:pt x="4533735" y="4533735"/>
                </a:lnTo>
                <a:lnTo>
                  <a:pt x="0" y="4533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23422" y="6091840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6861" y="2019270"/>
            <a:ext cx="9114741" cy="5544293"/>
            <a:chOff x="0" y="0"/>
            <a:chExt cx="12152989" cy="739239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4500230"/>
              <a:ext cx="12152989" cy="287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09"/>
                </a:lnSpc>
                <a:spcBef>
                  <a:spcPct val="0"/>
                </a:spcBef>
              </a:pPr>
              <a:r>
                <a:rPr lang="en-US" sz="3077">
                  <a:solidFill>
                    <a:srgbClr val="004A98"/>
                  </a:solidFill>
                  <a:latin typeface="IBM Plex Sans"/>
                </a:rPr>
                <a:t>To enhance the driver's experience, we've incorporated a user-friendly LCD display. It offers instant information on available parking spaces, making parking stress-free and efficient.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0"/>
              <a:ext cx="12152989" cy="3511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marL="0" indent="0" lvl="0">
                <a:lnSpc>
                  <a:spcPts val="10432"/>
                </a:lnSpc>
                <a:spcBef>
                  <a:spcPct val="0"/>
                </a:spcBef>
              </a:pPr>
              <a:r>
                <a:rPr lang="en-US" sz="8693">
                  <a:solidFill>
                    <a:srgbClr val="0453F1"/>
                  </a:solidFill>
                  <a:latin typeface="IBM Plex Sans Semi-Bold"/>
                </a:rPr>
                <a:t>User-Friendly Display: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2207449">
            <a:off x="5652663" y="96177"/>
            <a:ext cx="4504186" cy="450418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55448"/>
              <a:ext cx="6350000" cy="6039104"/>
            </a:xfrm>
            <a:custGeom>
              <a:avLst/>
              <a:gdLst/>
              <a:ahLst/>
              <a:cxnLst/>
              <a:rect r="r" b="b" t="t" l="l"/>
              <a:pathLst>
                <a:path h="6039104" w="6350000">
                  <a:moveTo>
                    <a:pt x="3175000" y="0"/>
                  </a:moveTo>
                  <a:lnTo>
                    <a:pt x="0" y="2306701"/>
                  </a:lnTo>
                  <a:lnTo>
                    <a:pt x="1212723" y="6039104"/>
                  </a:lnTo>
                  <a:lnTo>
                    <a:pt x="5137277" y="6039104"/>
                  </a:lnTo>
                  <a:lnTo>
                    <a:pt x="6350000" y="2306701"/>
                  </a:lnTo>
                  <a:close/>
                </a:path>
              </a:pathLst>
            </a:custGeom>
            <a:blipFill>
              <a:blip r:embed="rId2"/>
              <a:stretch>
                <a:fillRect l="-11950" t="0" r="-6002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809022" y="3466536"/>
            <a:ext cx="4496825" cy="4496825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55448"/>
              <a:ext cx="6350000" cy="6039104"/>
            </a:xfrm>
            <a:custGeom>
              <a:avLst/>
              <a:gdLst/>
              <a:ahLst/>
              <a:cxnLst/>
              <a:rect r="r" b="b" t="t" l="l"/>
              <a:pathLst>
                <a:path h="6039104" w="6350000">
                  <a:moveTo>
                    <a:pt x="3175000" y="0"/>
                  </a:moveTo>
                  <a:lnTo>
                    <a:pt x="0" y="2306701"/>
                  </a:lnTo>
                  <a:lnTo>
                    <a:pt x="1212723" y="6039104"/>
                  </a:lnTo>
                  <a:lnTo>
                    <a:pt x="5137277" y="6039104"/>
                  </a:lnTo>
                  <a:lnTo>
                    <a:pt x="6350000" y="2306701"/>
                  </a:lnTo>
                  <a:close/>
                </a:path>
              </a:pathLst>
            </a:custGeom>
            <a:blipFill>
              <a:blip r:embed="rId3"/>
              <a:stretch>
                <a:fillRect l="-13402" t="0" r="-13402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-187375">
            <a:off x="8722243" y="3380130"/>
            <a:ext cx="4669637" cy="4669637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55448"/>
              <a:ext cx="6350000" cy="6039104"/>
            </a:xfrm>
            <a:custGeom>
              <a:avLst/>
              <a:gdLst/>
              <a:ahLst/>
              <a:cxnLst/>
              <a:rect r="r" b="b" t="t" l="l"/>
              <a:pathLst>
                <a:path h="6039104" w="6350000">
                  <a:moveTo>
                    <a:pt x="3175000" y="0"/>
                  </a:moveTo>
                  <a:lnTo>
                    <a:pt x="0" y="2306701"/>
                  </a:lnTo>
                  <a:lnTo>
                    <a:pt x="1212723" y="6039104"/>
                  </a:lnTo>
                  <a:lnTo>
                    <a:pt x="5137277" y="6039104"/>
                  </a:lnTo>
                  <a:lnTo>
                    <a:pt x="6350000" y="2306701"/>
                  </a:lnTo>
                  <a:close/>
                </a:path>
              </a:pathLst>
            </a:custGeom>
            <a:blipFill>
              <a:blip r:embed="rId4"/>
              <a:stretch>
                <a:fillRect l="-13402" t="0" r="-13402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-2207449">
            <a:off x="11854902" y="96177"/>
            <a:ext cx="4504186" cy="4504186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55448"/>
              <a:ext cx="6350000" cy="6039104"/>
            </a:xfrm>
            <a:custGeom>
              <a:avLst/>
              <a:gdLst/>
              <a:ahLst/>
              <a:cxnLst/>
              <a:rect r="r" b="b" t="t" l="l"/>
              <a:pathLst>
                <a:path h="6039104" w="6350000">
                  <a:moveTo>
                    <a:pt x="3175000" y="0"/>
                  </a:moveTo>
                  <a:lnTo>
                    <a:pt x="0" y="2306701"/>
                  </a:lnTo>
                  <a:lnTo>
                    <a:pt x="1212723" y="6039104"/>
                  </a:lnTo>
                  <a:lnTo>
                    <a:pt x="5137277" y="6039104"/>
                  </a:lnTo>
                  <a:lnTo>
                    <a:pt x="6350000" y="2306701"/>
                  </a:lnTo>
                  <a:close/>
                </a:path>
              </a:pathLst>
            </a:custGeom>
            <a:blipFill>
              <a:blip r:embed="rId5"/>
              <a:stretch>
                <a:fillRect l="-66310" t="0" r="-6631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66230" y="2062556"/>
            <a:ext cx="4375183" cy="4375183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55448"/>
              <a:ext cx="6350000" cy="6039104"/>
            </a:xfrm>
            <a:custGeom>
              <a:avLst/>
              <a:gdLst/>
              <a:ahLst/>
              <a:cxnLst/>
              <a:rect r="r" b="b" t="t" l="l"/>
              <a:pathLst>
                <a:path h="6039104" w="6350000">
                  <a:moveTo>
                    <a:pt x="3175000" y="0"/>
                  </a:moveTo>
                  <a:lnTo>
                    <a:pt x="0" y="2306701"/>
                  </a:lnTo>
                  <a:lnTo>
                    <a:pt x="1212723" y="6039104"/>
                  </a:lnTo>
                  <a:lnTo>
                    <a:pt x="5137277" y="6039104"/>
                  </a:lnTo>
                  <a:lnTo>
                    <a:pt x="6350000" y="2306701"/>
                  </a:lnTo>
                  <a:close/>
                </a:path>
              </a:pathLst>
            </a:custGeom>
            <a:blipFill>
              <a:blip r:embed="rId2"/>
              <a:stretch>
                <a:fillRect l="0" t="0" r="-9020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1766257" y="2062556"/>
            <a:ext cx="4375183" cy="4375183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55448"/>
              <a:ext cx="6350000" cy="6039104"/>
            </a:xfrm>
            <a:custGeom>
              <a:avLst/>
              <a:gdLst/>
              <a:ahLst/>
              <a:cxnLst/>
              <a:rect r="r" b="b" t="t" l="l"/>
              <a:pathLst>
                <a:path h="6039104" w="6350000">
                  <a:moveTo>
                    <a:pt x="3175000" y="0"/>
                  </a:moveTo>
                  <a:lnTo>
                    <a:pt x="0" y="2306701"/>
                  </a:lnTo>
                  <a:lnTo>
                    <a:pt x="1212723" y="6039104"/>
                  </a:lnTo>
                  <a:lnTo>
                    <a:pt x="5137277" y="6039104"/>
                  </a:lnTo>
                  <a:lnTo>
                    <a:pt x="6350000" y="2306701"/>
                  </a:lnTo>
                  <a:close/>
                </a:path>
              </a:pathLst>
            </a:custGeom>
            <a:blipFill>
              <a:blip r:embed="rId3"/>
              <a:stretch>
                <a:fillRect l="0" t="-2574" r="0" b="-2574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23312">
            <a:off x="-2412127" y="-2667424"/>
            <a:ext cx="9132011" cy="16841771"/>
            <a:chOff x="0" y="0"/>
            <a:chExt cx="3089100" cy="569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9100" cy="5697093"/>
            </a:xfrm>
            <a:custGeom>
              <a:avLst/>
              <a:gdLst/>
              <a:ahLst/>
              <a:cxnLst/>
              <a:rect r="r" b="b" t="t" l="l"/>
              <a:pathLst>
                <a:path h="5697093" w="3089100">
                  <a:moveTo>
                    <a:pt x="0" y="0"/>
                  </a:moveTo>
                  <a:lnTo>
                    <a:pt x="3089100" y="0"/>
                  </a:lnTo>
                  <a:lnTo>
                    <a:pt x="3089100" y="5697093"/>
                  </a:lnTo>
                  <a:lnTo>
                    <a:pt x="0" y="5697093"/>
                  </a:lnTo>
                  <a:close/>
                </a:path>
              </a:pathLst>
            </a:custGeom>
            <a:solidFill>
              <a:srgbClr val="E1EBFF"/>
            </a:solidFill>
          </p:spPr>
        </p:sp>
      </p:grpSp>
      <p:sp>
        <p:nvSpPr>
          <p:cNvPr name="AutoShape 4" id="4"/>
          <p:cNvSpPr/>
          <p:nvPr/>
        </p:nvSpPr>
        <p:spPr>
          <a:xfrm rot="-3710222">
            <a:off x="621054" y="3269179"/>
            <a:ext cx="5405663" cy="16125027"/>
          </a:xfrm>
          <a:prstGeom prst="rect">
            <a:avLst/>
          </a:prstGeom>
          <a:solidFill>
            <a:srgbClr val="0453F1"/>
          </a:solidFill>
        </p:spPr>
      </p:sp>
      <p:sp>
        <p:nvSpPr>
          <p:cNvPr name="Freeform 5" id="5"/>
          <p:cNvSpPr/>
          <p:nvPr/>
        </p:nvSpPr>
        <p:spPr>
          <a:xfrm flipH="false" flipV="false" rot="0">
            <a:off x="9874269" y="428936"/>
            <a:ext cx="6657847" cy="4821753"/>
          </a:xfrm>
          <a:custGeom>
            <a:avLst/>
            <a:gdLst/>
            <a:ahLst/>
            <a:cxnLst/>
            <a:rect r="r" b="b" t="t" l="l"/>
            <a:pathLst>
              <a:path h="4821753" w="6657847">
                <a:moveTo>
                  <a:pt x="0" y="0"/>
                </a:moveTo>
                <a:lnTo>
                  <a:pt x="6657848" y="0"/>
                </a:lnTo>
                <a:lnTo>
                  <a:pt x="6657848" y="4821754"/>
                </a:lnTo>
                <a:lnTo>
                  <a:pt x="0" y="482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905" t="-16074" r="-31219" b="-4091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74269" y="5480557"/>
            <a:ext cx="6657847" cy="4363764"/>
          </a:xfrm>
          <a:custGeom>
            <a:avLst/>
            <a:gdLst/>
            <a:ahLst/>
            <a:cxnLst/>
            <a:rect r="r" b="b" t="t" l="l"/>
            <a:pathLst>
              <a:path h="4363764" w="6657847">
                <a:moveTo>
                  <a:pt x="0" y="0"/>
                </a:moveTo>
                <a:lnTo>
                  <a:pt x="6657848" y="0"/>
                </a:lnTo>
                <a:lnTo>
                  <a:pt x="6657848" y="4363765"/>
                </a:lnTo>
                <a:lnTo>
                  <a:pt x="0" y="4363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435" t="-23412" r="-30690" b="-5005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9947" y="896713"/>
            <a:ext cx="664845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7650"/>
              </a:lnSpc>
            </a:pPr>
            <a:r>
              <a:rPr lang="en-US" sz="6375">
                <a:solidFill>
                  <a:srgbClr val="0453F1"/>
                </a:solidFill>
                <a:latin typeface="IBM Plex Sans"/>
              </a:rPr>
              <a:t>DEVELOPMENTS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9947" y="3401477"/>
            <a:ext cx="7695627" cy="310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53997" indent="-276999" lvl="1">
              <a:lnSpc>
                <a:spcPts val="3592"/>
              </a:lnSpc>
              <a:buFont typeface="Arial"/>
              <a:buChar char="•"/>
            </a:pPr>
            <a:r>
              <a:rPr lang="en-US" sz="2565">
                <a:solidFill>
                  <a:srgbClr val="004A98"/>
                </a:solidFill>
                <a:latin typeface="IBM Plex Sans Semi-Bold"/>
              </a:rPr>
              <a:t>Wireless Connectivity:</a:t>
            </a:r>
            <a:r>
              <a:rPr lang="en-US" sz="2565">
                <a:solidFill>
                  <a:srgbClr val="004A98"/>
                </a:solidFill>
                <a:latin typeface="IBM Plex Sans"/>
              </a:rPr>
              <a:t> ESP32 enables wireless communication, allowing users to check parking availability remotely via a mobile app.</a:t>
            </a:r>
          </a:p>
          <a:p>
            <a:pPr marL="553997" indent="-276999" lvl="1">
              <a:lnSpc>
                <a:spcPts val="3592"/>
              </a:lnSpc>
              <a:buFont typeface="Arial"/>
              <a:buChar char="•"/>
            </a:pPr>
            <a:r>
              <a:rPr lang="en-US" sz="2565">
                <a:solidFill>
                  <a:srgbClr val="004A98"/>
                </a:solidFill>
                <a:latin typeface="IBM Plex Sans Semi-Bold"/>
              </a:rPr>
              <a:t>Real-time Updates:</a:t>
            </a:r>
            <a:r>
              <a:rPr lang="en-US" sz="2565">
                <a:solidFill>
                  <a:srgbClr val="004A98"/>
                </a:solidFill>
                <a:latin typeface="IBM Plex Sans"/>
              </a:rPr>
              <a:t> Users can receive real-time updates on available parking spaces and even reserve spots using the mobile application.</a:t>
            </a:r>
          </a:p>
          <a:p>
            <a:pPr marL="0" indent="0" lvl="0">
              <a:lnSpc>
                <a:spcPts val="359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45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3418877">
            <a:off x="314073" y="3253015"/>
            <a:ext cx="6699900" cy="16125027"/>
          </a:xfrm>
          <a:prstGeom prst="rect">
            <a:avLst/>
          </a:prstGeom>
          <a:solidFill>
            <a:srgbClr val="004A98"/>
          </a:solidFill>
        </p:spPr>
      </p:sp>
      <p:sp>
        <p:nvSpPr>
          <p:cNvPr name="AutoShape 3" id="3"/>
          <p:cNvSpPr/>
          <p:nvPr/>
        </p:nvSpPr>
        <p:spPr>
          <a:xfrm rot="-2287810">
            <a:off x="6872726" y="4177689"/>
            <a:ext cx="18999489" cy="8313765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028700" y="500251"/>
            <a:ext cx="7999551" cy="3918517"/>
            <a:chOff x="0" y="0"/>
            <a:chExt cx="10666068" cy="522468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0666068" cy="3966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marL="0" indent="0" lvl="0">
                <a:lnSpc>
                  <a:spcPts val="11779"/>
                </a:lnSpc>
                <a:spcBef>
                  <a:spcPct val="0"/>
                </a:spcBef>
              </a:pPr>
              <a:r>
                <a:rPr lang="en-US" sz="9816">
                  <a:solidFill>
                    <a:srgbClr val="FFFFFF"/>
                  </a:solidFill>
                  <a:latin typeface="IBM Plex Sans"/>
                </a:rPr>
                <a:t>Thank you for your attention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412230"/>
              <a:ext cx="10666068" cy="8124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07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10285983" y="-19050"/>
            <a:ext cx="8011542" cy="5411512"/>
            <a:chOff x="0" y="0"/>
            <a:chExt cx="8977243" cy="60638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77244" cy="6063809"/>
            </a:xfrm>
            <a:custGeom>
              <a:avLst/>
              <a:gdLst/>
              <a:ahLst/>
              <a:cxnLst/>
              <a:rect r="r" b="b" t="t" l="l"/>
              <a:pathLst>
                <a:path h="6063809" w="8977244">
                  <a:moveTo>
                    <a:pt x="8977244" y="6063809"/>
                  </a:moveTo>
                  <a:lnTo>
                    <a:pt x="0" y="6063809"/>
                  </a:lnTo>
                  <a:lnTo>
                    <a:pt x="0" y="0"/>
                  </a:lnTo>
                  <a:lnTo>
                    <a:pt x="8977244" y="60638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DAFyTjUZNE8</dc:identifier>
  <dcterms:modified xsi:type="dcterms:W3CDTF">2011-08-01T06:04:30Z</dcterms:modified>
  <cp:revision>1</cp:revision>
  <dc:title>P arkMate</dc:title>
</cp:coreProperties>
</file>